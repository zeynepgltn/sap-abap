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C0D3DA-798F-3574-F849-138492ABE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77ABFB8-BB7F-B159-7A1E-9D947901E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A5A05C3-C031-CDC7-C38D-8B517B8B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41C7D2-6656-2226-D740-8E990D87C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2C132BE-0714-D8F5-2676-8386F859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08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A9A5CB-5FA4-926E-13CD-1E283C8E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C37C6A2-A49D-69AF-71DC-9999C5010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AD6EE35-924E-2798-FB56-03D9CFC0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5FC985C-A7BC-7F3A-A0D1-53E4E87A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9B86E91-CBBE-5D02-B461-6E325069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302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9308B7-A5E5-C99B-745F-74D5EE62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950A601-14DD-FEA3-1A47-A4A3A56E2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86AAAE2-C2A0-95B3-6D46-2B571FF5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8F729DE-FB4A-3070-6449-B942FE882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A30303E-3686-571B-867C-75F3AE94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6282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ED2907-C970-1548-589D-8EFEC3BB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3BF6E8-2E0D-9C48-6479-446392550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2449CD4D-4BB6-DB5F-40A5-C47450E3B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CC89AD6-79F5-1B54-5677-39C00CF0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0A95C55-C133-2639-DF9D-15386A41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556C98B-4D3C-6989-97BE-3D3C56DD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1904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26631D-632B-B6F5-3ADB-6F6FF361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37C9ED3-0E17-C6A6-8171-C80F7F069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12D32157-023D-EB7E-E216-3FD16C092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7FFF1ECE-39A1-34D3-16AF-7B197ABBE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86FBE1C-FB6B-7984-38E3-F17EA2B2B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66EEE7FE-9C3D-596C-090C-FB96B07B3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5A6D743-F5D2-49DA-70AA-59FC738E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C8797B1-1B29-4217-1CC6-44CBF3D95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903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A80306-319E-541A-CEEB-F89EE0DF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7F61F3C-97ED-7539-35CC-10BEB51E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615EDE8-D119-84F8-06B9-EDFF45A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BA29721-126F-D8CA-670A-E6A7CADE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56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66E8B820-C899-B7C0-73F9-BE931B9FA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685FADC-B7E9-B0E7-BA18-44877C7D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E2BA36C-AF5D-298F-D7D9-0B0ED559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769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4B72EE-F1E6-A3CB-9171-ECCD4DC6B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9F5E30F-15CF-5531-E147-33C11EAD7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AD35B86-8B1E-7D44-8221-CC65F869F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2D0DCE8-7DC6-87AF-BCB5-8E3DCAC6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4A1CABB-A4D7-6537-5BCC-FC7343BB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1238113-5CFB-2223-F166-DBE1CFE7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701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60475B-699E-5F2E-FEC8-DB35E2679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1C0E386-E2C4-E0A9-21E0-998B5C5CD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B7BC111-8398-982F-8AC9-0C2D9D705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D929F50-522A-4B5E-78F6-E744B4AFC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17B5B61-4569-1FF8-8429-70878B4B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99831A9-7A27-1EB8-7F99-DEFF576C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435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1DEE37-1D23-24FF-2DED-1440D3D2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7D59F25-0EB8-E38D-1FBA-CAD805271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3343E25-36DF-5E44-974F-967722C6C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9324C43-0B36-010B-2390-C964199A1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4D2C31D-A177-881A-CB83-6FA65B0DA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304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FD53B00-0F15-18E2-9034-02E346707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8DA0A65-2E07-8D82-6468-4B74266DC3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D71FDBB-4488-7487-D2BB-9F542B24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A88AB2D-3527-91C1-0B4E-58446D2A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42B0AF8-935A-2EF7-DDC9-A04805CD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189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A66F0AF-C052-3B9F-1D7D-954F1CA8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7473924-3046-4795-3810-9AB26EC56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5BF2F7C-A46B-E0F3-A567-84C534491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EC974-71DF-4346-914E-9676B79374EF}" type="datetimeFigureOut">
              <a:rPr lang="tr-TR" smtClean="0"/>
              <a:t>8.02.2026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541CADD-5744-C3AD-C5CC-DA044AF414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1BC3FA8-DF09-5BF1-59AB-B033D2C11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7E580-9D4D-4547-AA33-F7B4BC4F914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3009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6C20C03-3FA1-6FD5-B74F-33040FA2F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tr-TR" sz="1800" dirty="0"/>
              <a:t>Sap de kendi özel kodlarımızı adlandırırken Z veya Y harfi ile başlatmalıyız.</a:t>
            </a:r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45F62E88-8832-7745-F586-7AA000186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294356"/>
              </p:ext>
            </p:extLst>
          </p:nvPr>
        </p:nvGraphicFramePr>
        <p:xfrm>
          <a:off x="297425" y="438083"/>
          <a:ext cx="11324304" cy="3291840"/>
        </p:xfrm>
        <a:graphic>
          <a:graphicData uri="http://schemas.openxmlformats.org/drawingml/2006/table">
            <a:tbl>
              <a:tblPr/>
              <a:tblGrid>
                <a:gridCol w="5662152">
                  <a:extLst>
                    <a:ext uri="{9D8B030D-6E8A-4147-A177-3AD203B41FA5}">
                      <a16:colId xmlns:a16="http://schemas.microsoft.com/office/drawing/2014/main" val="1599717636"/>
                    </a:ext>
                  </a:extLst>
                </a:gridCol>
                <a:gridCol w="5662152">
                  <a:extLst>
                    <a:ext uri="{9D8B030D-6E8A-4147-A177-3AD203B41FA5}">
                      <a16:colId xmlns:a16="http://schemas.microsoft.com/office/drawing/2014/main" val="2538204285"/>
                    </a:ext>
                  </a:extLst>
                </a:gridCol>
              </a:tblGrid>
              <a:tr h="26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Tür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Açıklama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187060"/>
                  </a:ext>
                </a:extLst>
              </a:tr>
              <a:tr h="26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i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Integer (tam sayı, 32-bit)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485366"/>
                  </a:ext>
                </a:extLst>
              </a:tr>
              <a:tr h="26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int1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1 byte 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240353"/>
                  </a:ext>
                </a:extLst>
              </a:tr>
              <a:tr h="26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int2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2 byte 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882159"/>
                  </a:ext>
                </a:extLst>
              </a:tr>
              <a:tr h="26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int4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4 byte </a:t>
                      </a:r>
                      <a:r>
                        <a:rPr lang="tr-TR" dirty="0" err="1"/>
                        <a:t>integer</a:t>
                      </a:r>
                      <a:r>
                        <a:rPr lang="tr-TR" dirty="0"/>
                        <a:t> (en yaygın)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981587"/>
                  </a:ext>
                </a:extLst>
              </a:tr>
              <a:tr h="26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p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Packed number (ondalıklı, para işlemleri)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43082"/>
                  </a:ext>
                </a:extLst>
              </a:tr>
              <a:tr h="26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f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Float (kayan nokta, hassasiyet hatası olabilir)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407456"/>
                  </a:ext>
                </a:extLst>
              </a:tr>
              <a:tr h="26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decfloat16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16 basamak hassasiyetli ondalık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599515"/>
                  </a:ext>
                </a:extLst>
              </a:tr>
              <a:tr h="26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decfloat34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34 basamak hassasiyetli ondalık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458177"/>
                  </a:ext>
                </a:extLst>
              </a:tr>
            </a:tbl>
          </a:graphicData>
        </a:graphic>
      </p:graphicFrame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A52E3053-05C9-806A-EB2B-9AAF548BA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819617"/>
              </p:ext>
            </p:extLst>
          </p:nvPr>
        </p:nvGraphicFramePr>
        <p:xfrm>
          <a:off x="297425" y="4168006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92297133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466210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Tür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Açıklama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105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c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Sabit uzunluklu karakter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539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string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Dinamik uzunluklu metin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773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n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/>
                        <a:t>Sadece rakam içeren karakter alanı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180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x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Sabit uzunluklu byte (hex)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9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 err="1">
                          <a:latin typeface="Courier New" panose="02070309020205020404" pitchFamily="49" charset="0"/>
                        </a:rPr>
                        <a:t>xstring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Dinamik byte dizisi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255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27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123C-7F4A-326E-E408-6826E5B36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İçerik Yer Tutucusu 1">
            <a:extLst>
              <a:ext uri="{FF2B5EF4-FFF2-40B4-BE49-F238E27FC236}">
                <a16:creationId xmlns:a16="http://schemas.microsoft.com/office/drawing/2014/main" id="{386F9391-C2B6-A092-0C22-2AA560CE5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849512"/>
              </p:ext>
            </p:extLst>
          </p:nvPr>
        </p:nvGraphicFramePr>
        <p:xfrm>
          <a:off x="346587" y="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8145698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716203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Tür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Açıklama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163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d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Tarih (</a:t>
                      </a:r>
                      <a:r>
                        <a:rPr lang="tr-TR">
                          <a:latin typeface="Courier New" panose="02070309020205020404" pitchFamily="49" charset="0"/>
                        </a:rPr>
                        <a:t>YYYYMMDD</a:t>
                      </a:r>
                      <a:r>
                        <a:rPr lang="tr-T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298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t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Saat (</a:t>
                      </a:r>
                      <a:r>
                        <a:rPr lang="tr-TR">
                          <a:latin typeface="Courier New" panose="02070309020205020404" pitchFamily="49" charset="0"/>
                        </a:rPr>
                        <a:t>HHMMSS</a:t>
                      </a:r>
                      <a:r>
                        <a:rPr lang="tr-T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77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utclong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UTC </a:t>
                      </a:r>
                      <a:r>
                        <a:rPr lang="tr-TR" dirty="0" err="1"/>
                        <a:t>timestamp</a:t>
                      </a:r>
                      <a:r>
                        <a:rPr lang="tr-TR" dirty="0"/>
                        <a:t> (yüksek hassasiyet)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088045"/>
                  </a:ext>
                </a:extLst>
              </a:tr>
            </a:tbl>
          </a:graphicData>
        </a:graphic>
      </p:graphicFrame>
      <p:graphicFrame>
        <p:nvGraphicFramePr>
          <p:cNvPr id="6" name="Tablo 5">
            <a:extLst>
              <a:ext uri="{FF2B5EF4-FFF2-40B4-BE49-F238E27FC236}">
                <a16:creationId xmlns:a16="http://schemas.microsoft.com/office/drawing/2014/main" id="{62F39B22-E0F3-036D-339C-E4183A9D4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652438"/>
              </p:ext>
            </p:extLst>
          </p:nvPr>
        </p:nvGraphicFramePr>
        <p:xfrm>
          <a:off x="346587" y="1825387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2722641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69871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Tür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Açıklama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220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 err="1">
                          <a:latin typeface="Courier New" panose="02070309020205020404" pitchFamily="49" charset="0"/>
                        </a:rPr>
                        <a:t>abap_bool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Boolean (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abap_true / abap_false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696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flag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Tek karakterlik durum bilgisi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922407"/>
                  </a:ext>
                </a:extLst>
              </a:tr>
            </a:tbl>
          </a:graphicData>
        </a:graphic>
      </p:graphicFrame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C4529214-22FC-4C00-E113-000FE8DBE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99590"/>
              </p:ext>
            </p:extLst>
          </p:nvPr>
        </p:nvGraphicFramePr>
        <p:xfrm>
          <a:off x="346587" y="320381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5374139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92129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Tür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Açıklama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182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structure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Birden fazla alan içeren veri yapısı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793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table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Satır-sütun yapısı (internal 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31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 err="1">
                          <a:latin typeface="Courier New" panose="02070309020205020404" pitchFamily="49" charset="0"/>
                        </a:rPr>
                        <a:t>ref</a:t>
                      </a:r>
                      <a:r>
                        <a:rPr lang="tr-TR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tr-TR" dirty="0" err="1">
                          <a:latin typeface="Courier New" panose="02070309020205020404" pitchFamily="49" charset="0"/>
                        </a:rPr>
                        <a:t>to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Nesne / veri referansı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629417"/>
                  </a:ext>
                </a:extLst>
              </a:tr>
            </a:tbl>
          </a:graphicData>
        </a:graphic>
      </p:graphicFrame>
      <p:graphicFrame>
        <p:nvGraphicFramePr>
          <p:cNvPr id="8" name="Tablo 7">
            <a:extLst>
              <a:ext uri="{FF2B5EF4-FFF2-40B4-BE49-F238E27FC236}">
                <a16:creationId xmlns:a16="http://schemas.microsoft.com/office/drawing/2014/main" id="{60A63DB2-13A4-538D-4559-EA6AC8973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598717"/>
              </p:ext>
            </p:extLst>
          </p:nvPr>
        </p:nvGraphicFramePr>
        <p:xfrm>
          <a:off x="346587" y="4948001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883309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981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Tür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Açıklama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435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 err="1">
                          <a:latin typeface="Courier New" panose="02070309020205020404" pitchFamily="49" charset="0"/>
                        </a:rPr>
                        <a:t>sy</a:t>
                      </a:r>
                      <a:r>
                        <a:rPr lang="tr-TR" dirty="0">
                          <a:latin typeface="Courier New" panose="02070309020205020404" pitchFamily="49" charset="0"/>
                        </a:rPr>
                        <a:t>-*</a:t>
                      </a: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Sistem alanları (</a:t>
                      </a:r>
                      <a:r>
                        <a:rPr lang="tr-TR" dirty="0" err="1">
                          <a:latin typeface="Courier New" panose="02070309020205020404" pitchFamily="49" charset="0"/>
                        </a:rPr>
                        <a:t>sy-datum</a:t>
                      </a:r>
                      <a:r>
                        <a:rPr lang="tr-TR" dirty="0"/>
                        <a:t>, </a:t>
                      </a:r>
                      <a:r>
                        <a:rPr lang="tr-TR" dirty="0" err="1">
                          <a:latin typeface="Courier New" panose="02070309020205020404" pitchFamily="49" charset="0"/>
                        </a:rPr>
                        <a:t>sy-uzeit</a:t>
                      </a:r>
                      <a:r>
                        <a:rPr lang="tr-T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84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any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Her türü tutabilen genel tip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150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data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Dinamik tipli veri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81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>
                          <a:latin typeface="Courier New" panose="02070309020205020404" pitchFamily="49" charset="0"/>
                        </a:rPr>
                        <a:t>field-symbol</a:t>
                      </a:r>
                      <a:endParaRPr lang="tr-T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 err="1"/>
                        <a:t>Pointer</a:t>
                      </a:r>
                      <a:r>
                        <a:rPr lang="tr-TR" dirty="0"/>
                        <a:t> benzeri yapı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641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324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2BB8-2C2A-4FB8-1171-85A4E9A58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İçerik Yer Tutucusu 5" descr="metin, ekran görüntüsü, dikdörtgen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E7511BD-E207-89D8-C961-682133941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358" y="540243"/>
            <a:ext cx="8662846" cy="2528441"/>
          </a:xfrm>
          <a:prstGeom prst="rect">
            <a:avLst/>
          </a:prstGeom>
        </p:spPr>
      </p:pic>
      <p:pic>
        <p:nvPicPr>
          <p:cNvPr id="8" name="Resim 7" descr="ekran görüntüsü, dikdörtgen, ekran, görüntüleme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11BCD6E-A281-0030-EF36-0D9FB1105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43" y="3123011"/>
            <a:ext cx="4453584" cy="3564078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0DF7578F-3747-81FC-00B5-FE421046B0C0}"/>
              </a:ext>
            </a:extLst>
          </p:cNvPr>
          <p:cNvSpPr txBox="1"/>
          <p:nvPr/>
        </p:nvSpPr>
        <p:spPr>
          <a:xfrm>
            <a:off x="5751036" y="3123011"/>
            <a:ext cx="60943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Domain</a:t>
            </a:r>
            <a:r>
              <a:rPr lang="tr-TR" dirty="0"/>
              <a:t> → Verinin </a:t>
            </a:r>
            <a:r>
              <a:rPr lang="tr-TR" b="1" dirty="0"/>
              <a:t>teknik yapısıdır</a:t>
            </a:r>
            <a:br>
              <a:rPr lang="tr-TR" dirty="0"/>
            </a:br>
            <a:r>
              <a:rPr lang="tr-TR" dirty="0"/>
              <a:t>(tip, uzunluk, değer aralığı)</a:t>
            </a:r>
          </a:p>
          <a:p>
            <a:pPr>
              <a:buFont typeface="Arial" panose="020B0604020202020204" pitchFamily="34" charset="0"/>
              <a:buChar char="•"/>
            </a:pP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Data Element</a:t>
            </a:r>
            <a:r>
              <a:rPr lang="tr-TR" dirty="0"/>
              <a:t> → Verinin </a:t>
            </a:r>
            <a:r>
              <a:rPr lang="tr-TR" b="1" dirty="0"/>
              <a:t>anlamıdır</a:t>
            </a:r>
            <a:br>
              <a:rPr lang="tr-TR" dirty="0"/>
            </a:br>
            <a:r>
              <a:rPr lang="tr-TR" dirty="0"/>
              <a:t>(alan adı, etiket, açıklama)</a:t>
            </a:r>
          </a:p>
          <a:p>
            <a:pPr>
              <a:buFont typeface="Arial" panose="020B0604020202020204" pitchFamily="34" charset="0"/>
              <a:buChar char="•"/>
            </a:pP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/>
              <a:t>Table</a:t>
            </a:r>
            <a:r>
              <a:rPr lang="tr-TR" dirty="0"/>
              <a:t> → Verinin </a:t>
            </a:r>
            <a:r>
              <a:rPr lang="tr-TR" b="1" dirty="0"/>
              <a:t>saklandığı yerdir</a:t>
            </a:r>
          </a:p>
          <a:p>
            <a:pPr>
              <a:buFont typeface="Arial" panose="020B0604020202020204" pitchFamily="34" charset="0"/>
              <a:buChar char="•"/>
            </a:pPr>
            <a:endParaRPr lang="tr-TR" dirty="0"/>
          </a:p>
          <a:p>
            <a:pPr>
              <a:buNone/>
            </a:pPr>
            <a:r>
              <a:rPr lang="tr-TR" dirty="0"/>
              <a:t>İlişki sırası:</a:t>
            </a:r>
          </a:p>
          <a:p>
            <a:pPr rtl="0">
              <a:buNone/>
            </a:pPr>
            <a:r>
              <a:rPr lang="tr-TR" dirty="0" err="1">
                <a:latin typeface="Courier New" panose="02070309020205020404" pitchFamily="49" charset="0"/>
              </a:rPr>
              <a:t>Table</a:t>
            </a:r>
            <a:r>
              <a:rPr lang="tr-TR" dirty="0">
                <a:latin typeface="Courier New" panose="02070309020205020404" pitchFamily="49" charset="0"/>
              </a:rPr>
              <a:t> → Data Element → Domain</a:t>
            </a:r>
          </a:p>
          <a:p>
            <a:pPr rtl="0">
              <a:buNone/>
            </a:pPr>
            <a:endParaRPr lang="tr-TR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tr-TR" b="1" dirty="0"/>
              <a:t>Domain = nasıl</a:t>
            </a:r>
            <a:r>
              <a:rPr lang="tr-TR" dirty="0"/>
              <a:t>, </a:t>
            </a:r>
            <a:r>
              <a:rPr lang="tr-TR" b="1" dirty="0"/>
              <a:t>Data Element = ne</a:t>
            </a:r>
            <a:r>
              <a:rPr lang="tr-TR" dirty="0"/>
              <a:t>, </a:t>
            </a:r>
            <a:r>
              <a:rPr lang="tr-TR" b="1" dirty="0" err="1"/>
              <a:t>Table</a:t>
            </a:r>
            <a:r>
              <a:rPr lang="tr-TR" b="1" dirty="0"/>
              <a:t> = nerede</a:t>
            </a:r>
            <a:endParaRPr lang="tr-TR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6290A4F2-885C-2EF9-4BAF-14AC6D007B45}"/>
              </a:ext>
            </a:extLst>
          </p:cNvPr>
          <p:cNvSpPr txBox="1"/>
          <p:nvPr/>
        </p:nvSpPr>
        <p:spPr>
          <a:xfrm>
            <a:off x="4139380" y="87836"/>
            <a:ext cx="43065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</a:rPr>
              <a:t>TABLE ELEMANLARI</a:t>
            </a:r>
            <a:endParaRPr lang="tr-TR" sz="2400" dirty="0">
              <a:solidFill>
                <a:srgbClr val="FF0000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9056F4-F567-37B1-A648-BB5A0D507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8168" y="881133"/>
            <a:ext cx="238719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&amp;&amp;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birleştirme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</a:t>
            </a:r>
            <a:r>
              <a:rPr kumimoji="0" lang="tr-TR" altLang="tr-T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</a:t>
            </a:r>
            <a:r>
              <a:rPr kumimoji="0" lang="tr-TR" altLang="tr-T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yazı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AND / OR / NOT</a:t>
            </a:r>
            <a:r>
              <a:rPr kumimoji="0" lang="tr-TR" altLang="tr-T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mantıksal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01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 descr="metin, sayı, numara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F4EC03A-90E6-07EC-C629-DE91B4AB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85" y="975713"/>
            <a:ext cx="5877745" cy="1590897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2BE12569-F6D0-8CE5-77D6-A61BC1416E76}"/>
              </a:ext>
            </a:extLst>
          </p:cNvPr>
          <p:cNvSpPr txBox="1"/>
          <p:nvPr/>
        </p:nvSpPr>
        <p:spPr>
          <a:xfrm>
            <a:off x="8865022" y="2931320"/>
            <a:ext cx="3188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Technical </a:t>
            </a:r>
            <a:r>
              <a:rPr lang="tr-TR" dirty="0" err="1"/>
              <a:t>Settings</a:t>
            </a:r>
            <a:endParaRPr lang="tr-TR" dirty="0"/>
          </a:p>
        </p:txBody>
      </p:sp>
      <p:pic>
        <p:nvPicPr>
          <p:cNvPr id="17" name="Resim 16" descr="metin, sayı, numara, yazı tipi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BE5EE56-0E48-B06D-0D18-5131994B8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85" y="3300652"/>
            <a:ext cx="6630325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79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1">
            <a:extLst>
              <a:ext uri="{FF2B5EF4-FFF2-40B4-BE49-F238E27FC236}">
                <a16:creationId xmlns:a16="http://schemas.microsoft.com/office/drawing/2014/main" id="{C26762EC-26CB-76B0-5188-184C2C31A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3657600" lvl="8" indent="0">
              <a:buNone/>
            </a:pPr>
            <a:r>
              <a:rPr lang="tr-TR" sz="2400" b="1" dirty="0">
                <a:solidFill>
                  <a:srgbClr val="FF0000"/>
                </a:solidFill>
              </a:rPr>
              <a:t>OPEN SQL KOMUTLARI</a:t>
            </a:r>
            <a:endParaRPr lang="tr-TR" b="1" dirty="0"/>
          </a:p>
          <a:p>
            <a:r>
              <a:rPr lang="tr-TR" sz="1800" b="1" dirty="0" err="1"/>
              <a:t>Structure</a:t>
            </a:r>
            <a:r>
              <a:rPr lang="tr-TR" sz="1800" dirty="0"/>
              <a:t> → </a:t>
            </a:r>
            <a:r>
              <a:rPr lang="tr-TR" sz="1800" b="1" dirty="0"/>
              <a:t>Tek satır veri</a:t>
            </a:r>
            <a:r>
              <a:rPr lang="tr-TR" sz="1800" dirty="0"/>
              <a:t> tutar</a:t>
            </a:r>
            <a:br>
              <a:rPr lang="tr-TR" sz="1800" dirty="0"/>
            </a:br>
            <a:r>
              <a:rPr lang="tr-TR" sz="1800" dirty="0"/>
              <a:t>(bir öğrencinin bilgisi gibi)</a:t>
            </a:r>
          </a:p>
          <a:p>
            <a:endParaRPr lang="tr-TR" sz="1800" dirty="0"/>
          </a:p>
          <a:p>
            <a:r>
              <a:rPr lang="tr-TR" sz="1800" b="1" dirty="0" err="1"/>
              <a:t>Internal</a:t>
            </a:r>
            <a:r>
              <a:rPr lang="tr-TR" sz="1800" b="1" dirty="0"/>
              <a:t> </a:t>
            </a:r>
            <a:r>
              <a:rPr lang="tr-TR" sz="1800" b="1" dirty="0" err="1"/>
              <a:t>Table</a:t>
            </a:r>
            <a:r>
              <a:rPr lang="tr-TR" sz="1800" b="1" dirty="0"/>
              <a:t> (</a:t>
            </a:r>
            <a:r>
              <a:rPr lang="tr-TR" sz="1800" b="1" dirty="0" err="1"/>
              <a:t>table</a:t>
            </a:r>
            <a:r>
              <a:rPr lang="tr-TR" sz="1800" b="1" dirty="0"/>
              <a:t> </a:t>
            </a:r>
            <a:r>
              <a:rPr lang="tr-TR" sz="1800" b="1" dirty="0" err="1"/>
              <a:t>variable</a:t>
            </a:r>
            <a:r>
              <a:rPr lang="tr-TR" sz="1800" b="1" dirty="0"/>
              <a:t>)</a:t>
            </a:r>
            <a:r>
              <a:rPr lang="tr-TR" sz="1800" dirty="0"/>
              <a:t> → </a:t>
            </a:r>
            <a:r>
              <a:rPr lang="tr-TR" sz="1800" b="1" dirty="0"/>
              <a:t>Birden fazla </a:t>
            </a:r>
            <a:r>
              <a:rPr lang="tr-TR" sz="1800" b="1" dirty="0" err="1"/>
              <a:t>structure’un</a:t>
            </a:r>
            <a:r>
              <a:rPr lang="tr-TR" sz="1800" b="1" dirty="0"/>
              <a:t> listesi</a:t>
            </a:r>
            <a:br>
              <a:rPr lang="tr-TR" sz="1800" dirty="0"/>
            </a:br>
            <a:r>
              <a:rPr lang="tr-TR" sz="1800" dirty="0"/>
              <a:t>(öğrenci listesi gibi)</a:t>
            </a:r>
          </a:p>
          <a:p>
            <a:endParaRPr lang="tr-TR" sz="1800" dirty="0"/>
          </a:p>
          <a:p>
            <a:r>
              <a:rPr lang="tr-TR" sz="1800" b="1" dirty="0"/>
              <a:t>Database </a:t>
            </a:r>
            <a:r>
              <a:rPr lang="tr-TR" sz="1800" b="1" dirty="0" err="1"/>
              <a:t>Table</a:t>
            </a:r>
            <a:r>
              <a:rPr lang="tr-TR" sz="1800" dirty="0"/>
              <a:t> → </a:t>
            </a:r>
            <a:r>
              <a:rPr lang="tr-TR" sz="1800" b="1" dirty="0"/>
              <a:t>Verinin kalıcı olarak saklandığı yer</a:t>
            </a:r>
            <a:br>
              <a:rPr lang="tr-TR" sz="1800" dirty="0"/>
            </a:br>
            <a:r>
              <a:rPr lang="tr-TR" sz="1800" dirty="0"/>
              <a:t>(SE11’de oluşturulur)</a:t>
            </a:r>
          </a:p>
          <a:p>
            <a:endParaRPr lang="tr-TR" sz="1800" dirty="0"/>
          </a:p>
          <a:p>
            <a:r>
              <a:rPr lang="tr-TR" sz="1800" dirty="0"/>
              <a:t>İlişki:</a:t>
            </a:r>
          </a:p>
          <a:p>
            <a:pPr marL="0" indent="0">
              <a:buNone/>
            </a:pPr>
            <a:r>
              <a:rPr lang="tr-TR" sz="1800" dirty="0"/>
              <a:t>   Database </a:t>
            </a:r>
            <a:r>
              <a:rPr lang="tr-TR" sz="1800" dirty="0" err="1"/>
              <a:t>Table</a:t>
            </a:r>
            <a:r>
              <a:rPr lang="tr-TR" sz="1800" dirty="0"/>
              <a:t> → </a:t>
            </a:r>
            <a:r>
              <a:rPr lang="tr-TR" sz="1800" dirty="0" err="1"/>
              <a:t>Internal</a:t>
            </a:r>
            <a:r>
              <a:rPr lang="tr-TR" sz="1800" dirty="0"/>
              <a:t> </a:t>
            </a:r>
            <a:r>
              <a:rPr lang="tr-TR" sz="1800" dirty="0" err="1"/>
              <a:t>Table</a:t>
            </a:r>
            <a:r>
              <a:rPr lang="tr-TR" sz="1800" dirty="0"/>
              <a:t> → </a:t>
            </a:r>
            <a:r>
              <a:rPr lang="tr-TR" sz="1800" dirty="0" err="1"/>
              <a:t>Structure</a:t>
            </a:r>
            <a:endParaRPr lang="tr-TR" sz="1800" dirty="0"/>
          </a:p>
          <a:p>
            <a:pPr marL="0" indent="0">
              <a:buNone/>
            </a:pPr>
            <a:endParaRPr lang="tr-TR" sz="1800" dirty="0"/>
          </a:p>
          <a:p>
            <a:r>
              <a:rPr lang="tr-TR" sz="1800" b="1" dirty="0" err="1"/>
              <a:t>Structure</a:t>
            </a:r>
            <a:r>
              <a:rPr lang="tr-TR" sz="1800" b="1" dirty="0"/>
              <a:t> = 1 kayıt</a:t>
            </a:r>
            <a:r>
              <a:rPr lang="tr-TR" sz="1800" dirty="0"/>
              <a:t>, </a:t>
            </a:r>
            <a:r>
              <a:rPr lang="tr-TR" sz="1800" b="1" dirty="0" err="1"/>
              <a:t>Internal</a:t>
            </a:r>
            <a:r>
              <a:rPr lang="tr-TR" sz="1800" b="1" dirty="0"/>
              <a:t> </a:t>
            </a:r>
            <a:r>
              <a:rPr lang="tr-TR" sz="1800" b="1" dirty="0" err="1"/>
              <a:t>Table</a:t>
            </a:r>
            <a:r>
              <a:rPr lang="tr-TR" sz="1800" b="1" dirty="0"/>
              <a:t> = kayıtlar listesi</a:t>
            </a:r>
            <a:r>
              <a:rPr lang="tr-TR" sz="1800" dirty="0"/>
              <a:t>, </a:t>
            </a:r>
            <a:r>
              <a:rPr lang="tr-TR" sz="1800" b="1" dirty="0"/>
              <a:t>Database </a:t>
            </a:r>
            <a:r>
              <a:rPr lang="tr-TR" sz="1800" b="1" dirty="0" err="1"/>
              <a:t>Table</a:t>
            </a:r>
            <a:r>
              <a:rPr lang="tr-TR" sz="1800" b="1" dirty="0"/>
              <a:t> = </a:t>
            </a:r>
            <a:r>
              <a:rPr lang="tr-TR" sz="1800" b="1" dirty="0" err="1"/>
              <a:t>veritabanı</a:t>
            </a:r>
            <a:endParaRPr lang="tr-TR" sz="18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57488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3E529CD-874D-80E2-849C-CE7599250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tr-TR" b="1" dirty="0">
                <a:solidFill>
                  <a:srgbClr val="FF0000"/>
                </a:solidFill>
              </a:rPr>
              <a:t>					</a:t>
            </a:r>
            <a:r>
              <a:rPr lang="tr-TR" sz="2400" b="1" dirty="0">
                <a:solidFill>
                  <a:srgbClr val="FF0000"/>
                </a:solidFill>
              </a:rPr>
              <a:t>PARAMETERS</a:t>
            </a:r>
            <a:endParaRPr lang="tr-T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r-TR" sz="1800" dirty="0"/>
              <a:t>Oluşturduğumuz giriş alanlarının metinlerini değiştirmek </a:t>
            </a:r>
            <a:r>
              <a:rPr lang="tr-TR" sz="1800" dirty="0" err="1"/>
              <a:t>için:Git</a:t>
            </a:r>
            <a:r>
              <a:rPr lang="tr-TR" sz="1800" dirty="0"/>
              <a:t>-&gt;Metin sembolü</a:t>
            </a:r>
          </a:p>
          <a:p>
            <a:pPr marL="0" indent="0">
              <a:buNone/>
            </a:pPr>
            <a:r>
              <a:rPr lang="tr-TR" sz="1800" dirty="0"/>
              <a:t>Oluşturduğumuz </a:t>
            </a:r>
            <a:r>
              <a:rPr lang="tr-TR" sz="1800" dirty="0" err="1"/>
              <a:t>text</a:t>
            </a:r>
            <a:r>
              <a:rPr lang="tr-TR" sz="1800" dirty="0"/>
              <a:t> alanlarının metinlerini değiştirmek </a:t>
            </a:r>
            <a:r>
              <a:rPr lang="tr-TR" sz="1800" dirty="0" err="1"/>
              <a:t>için:Git</a:t>
            </a:r>
            <a:r>
              <a:rPr lang="tr-TR" sz="1800" dirty="0"/>
              <a:t>-&gt;</a:t>
            </a:r>
            <a:r>
              <a:rPr lang="tr-TR" sz="1800" dirty="0" err="1"/>
              <a:t>Text</a:t>
            </a:r>
            <a:r>
              <a:rPr lang="tr-TR" sz="1800" dirty="0"/>
              <a:t> sembolü</a:t>
            </a:r>
          </a:p>
          <a:p>
            <a:pPr marL="0" indent="0">
              <a:buNone/>
            </a:pPr>
            <a:r>
              <a:rPr lang="tr-TR" sz="1800" dirty="0"/>
              <a:t>				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r>
              <a:rPr lang="tr-TR" sz="1800" dirty="0"/>
              <a:t>					</a:t>
            </a:r>
            <a:r>
              <a:rPr lang="tr-TR" sz="2400" b="1" dirty="0">
                <a:solidFill>
                  <a:srgbClr val="FF0000"/>
                </a:solidFill>
              </a:rPr>
              <a:t>EVENTS</a:t>
            </a:r>
          </a:p>
          <a:p>
            <a:pPr marL="0" indent="0">
              <a:buNone/>
            </a:pPr>
            <a:endParaRPr lang="tr-TR" sz="1800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BBD82215-53F7-E37E-5653-D3926740A996}"/>
              </a:ext>
            </a:extLst>
          </p:cNvPr>
          <p:cNvSpPr txBox="1"/>
          <p:nvPr/>
        </p:nvSpPr>
        <p:spPr>
          <a:xfrm>
            <a:off x="58993" y="2382992"/>
            <a:ext cx="1207401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dirty="0" err="1"/>
              <a:t>ABAP’te</a:t>
            </a:r>
            <a:r>
              <a:rPr lang="tr-TR" dirty="0"/>
              <a:t> </a:t>
            </a:r>
            <a:r>
              <a:rPr lang="tr-TR" b="1" dirty="0" err="1"/>
              <a:t>event’ler</a:t>
            </a:r>
            <a:r>
              <a:rPr lang="tr-TR" dirty="0"/>
              <a:t>, programın </a:t>
            </a:r>
            <a:r>
              <a:rPr lang="tr-TR" b="1" dirty="0"/>
              <a:t>hangi aşamada ne çalışacağını belirleyen tetikleyicilerdir:</a:t>
            </a: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Program açıldığında </a:t>
            </a:r>
            <a:r>
              <a:rPr lang="tr-TR" dirty="0">
                <a:latin typeface="Courier New" panose="02070309020205020404" pitchFamily="49" charset="0"/>
              </a:rPr>
              <a:t>INITIALIZATION</a:t>
            </a:r>
            <a:r>
              <a:rPr lang="tr-TR" dirty="0"/>
              <a:t> çalışır ve varsayılan değerler atanır.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Kullanıcı ekrandayken ve çalıştırmadan önce kontroller için </a:t>
            </a:r>
            <a:r>
              <a:rPr lang="tr-TR" dirty="0">
                <a:latin typeface="Courier New" panose="02070309020205020404" pitchFamily="49" charset="0"/>
              </a:rPr>
              <a:t>AT SELECTION-SCREEN</a:t>
            </a:r>
            <a:r>
              <a:rPr lang="tr-TR" dirty="0"/>
              <a:t> devreye </a:t>
            </a:r>
            <a:r>
              <a:rPr lang="tr-TR" dirty="0" err="1"/>
              <a:t>girer.Ekran</a:t>
            </a:r>
            <a:r>
              <a:rPr lang="tr-TR" dirty="0"/>
              <a:t> çizilirken.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Kullanıcı </a:t>
            </a:r>
            <a:r>
              <a:rPr lang="tr-TR" b="1" dirty="0"/>
              <a:t>F8 (</a:t>
            </a:r>
            <a:r>
              <a:rPr lang="tr-TR" b="1" dirty="0" err="1"/>
              <a:t>Execute</a:t>
            </a:r>
            <a:r>
              <a:rPr lang="tr-TR" b="1" dirty="0"/>
              <a:t>)</a:t>
            </a:r>
            <a:r>
              <a:rPr lang="tr-TR" dirty="0"/>
              <a:t> bastığında asıl iş mantığının yazıldığı </a:t>
            </a:r>
            <a:r>
              <a:rPr lang="tr-TR" dirty="0">
                <a:latin typeface="Courier New" panose="02070309020205020404" pitchFamily="49" charset="0"/>
              </a:rPr>
              <a:t>START-OF-SELECTION</a:t>
            </a:r>
            <a:r>
              <a:rPr lang="tr-TR" dirty="0"/>
              <a:t> </a:t>
            </a:r>
            <a:r>
              <a:rPr lang="tr-TR" dirty="0" err="1"/>
              <a:t>çalışır.Kullanıcı</a:t>
            </a:r>
            <a:r>
              <a:rPr lang="tr-TR" dirty="0"/>
              <a:t> </a:t>
            </a:r>
            <a:r>
              <a:rPr lang="tr-TR" dirty="0" err="1"/>
              <a:t>ENTER’a</a:t>
            </a:r>
            <a:r>
              <a:rPr lang="tr-TR" dirty="0"/>
              <a:t> basınca.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Ana işlem bittikten sonra son düzenlemeler için </a:t>
            </a:r>
            <a:r>
              <a:rPr lang="tr-TR" dirty="0">
                <a:latin typeface="Courier New" panose="02070309020205020404" pitchFamily="49" charset="0"/>
              </a:rPr>
              <a:t>END-OF-SELECTION</a:t>
            </a:r>
            <a:r>
              <a:rPr lang="tr-TR" dirty="0"/>
              <a:t> kullanılır.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Listede bir satıra çift tıklanırsa </a:t>
            </a:r>
            <a:r>
              <a:rPr lang="tr-TR" dirty="0">
                <a:latin typeface="Courier New" panose="02070309020205020404" pitchFamily="49" charset="0"/>
              </a:rPr>
              <a:t>AT LINE-SELECTION</a:t>
            </a:r>
            <a:r>
              <a:rPr lang="tr-TR" dirty="0"/>
              <a:t> tetiklenir.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>
              <a:buNone/>
            </a:pPr>
            <a:r>
              <a:rPr lang="tr-TR" dirty="0"/>
              <a:t>Kısacası </a:t>
            </a:r>
            <a:r>
              <a:rPr lang="tr-TR" dirty="0" err="1"/>
              <a:t>event’ler</a:t>
            </a:r>
            <a:r>
              <a:rPr lang="tr-TR" dirty="0"/>
              <a:t>, ABAP programının akışını adım adım yöneten yapılardır.</a:t>
            </a:r>
          </a:p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tr-TR" dirty="0" err="1"/>
              <a:t>Abap</a:t>
            </a:r>
            <a:r>
              <a:rPr lang="tr-TR" dirty="0"/>
              <a:t> mantığında () veya TAB mantığı yok sonraki </a:t>
            </a:r>
            <a:r>
              <a:rPr lang="tr-TR" dirty="0" err="1"/>
              <a:t>keyworde</a:t>
            </a:r>
            <a:r>
              <a:rPr lang="tr-TR" dirty="0"/>
              <a:t> kadar işlemler </a:t>
            </a:r>
            <a:r>
              <a:rPr lang="tr-TR" dirty="0" err="1"/>
              <a:t>yapılır.Scope</a:t>
            </a:r>
            <a:r>
              <a:rPr lang="tr-TR" dirty="0"/>
              <a:t> </a:t>
            </a:r>
            <a:r>
              <a:rPr lang="tr-TR" dirty="0" err="1"/>
              <a:t>keywordlerle</a:t>
            </a:r>
            <a:r>
              <a:rPr lang="tr-TR" dirty="0"/>
              <a:t> sağlanır.</a:t>
            </a:r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tr-TR" dirty="0" err="1"/>
              <a:t>Global,local</a:t>
            </a:r>
            <a:r>
              <a:rPr lang="tr-TR" dirty="0"/>
              <a:t>-&gt;Global her </a:t>
            </a:r>
            <a:r>
              <a:rPr lang="tr-TR" dirty="0" err="1"/>
              <a:t>yerde,local</a:t>
            </a:r>
            <a:r>
              <a:rPr lang="tr-TR" dirty="0"/>
              <a:t> ise form içinde kullanılabilir.</a:t>
            </a:r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  <a:p>
            <a:pPr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95145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73967BA-7873-FF62-17E4-23520F01C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					 </a:t>
            </a:r>
            <a:r>
              <a:rPr lang="tr-TR" sz="2400" b="1" dirty="0">
                <a:solidFill>
                  <a:srgbClr val="FF0000"/>
                </a:solidFill>
              </a:rPr>
              <a:t>INCLUDE</a:t>
            </a:r>
          </a:p>
          <a:p>
            <a:pPr marL="0" indent="0">
              <a:buNone/>
            </a:pPr>
            <a:r>
              <a:rPr lang="tr-TR" sz="1800" dirty="0"/>
              <a:t>Program SE38 den oluşturulurken </a:t>
            </a:r>
            <a:r>
              <a:rPr lang="tr-TR" sz="1800" dirty="0" err="1"/>
              <a:t>include</a:t>
            </a:r>
            <a:r>
              <a:rPr lang="tr-TR" sz="1800" dirty="0"/>
              <a:t> türü seçilir.</a:t>
            </a:r>
          </a:p>
          <a:p>
            <a:pPr marL="0" indent="0">
              <a:buNone/>
            </a:pPr>
            <a:r>
              <a:rPr lang="tr-TR" dirty="0"/>
              <a:t>					</a:t>
            </a:r>
          </a:p>
          <a:p>
            <a:pPr marL="0" indent="0">
              <a:buNone/>
            </a:pPr>
            <a:r>
              <a:rPr lang="tr-TR" sz="2400" dirty="0"/>
              <a:t>					</a:t>
            </a:r>
            <a:r>
              <a:rPr lang="tr-TR" sz="2400" b="1" dirty="0">
                <a:solidFill>
                  <a:srgbClr val="FF0000"/>
                </a:solidFill>
              </a:rPr>
              <a:t> FM VE FG</a:t>
            </a:r>
          </a:p>
          <a:p>
            <a:pPr marL="0" indent="0">
              <a:buNone/>
            </a:pPr>
            <a:r>
              <a:rPr lang="tr-TR" sz="1800" dirty="0"/>
              <a:t>Her fonksiyon bir FG altında olmak zorunda.</a:t>
            </a:r>
          </a:p>
        </p:txBody>
      </p:sp>
      <p:pic>
        <p:nvPicPr>
          <p:cNvPr id="6" name="Resim 5" descr="metin, ekran görüntüsü, dikdörtgen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B09967D-EA74-5001-CFF8-660DD0BC1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234" y="1927730"/>
            <a:ext cx="7267948" cy="4477375"/>
          </a:xfrm>
          <a:prstGeom prst="rect">
            <a:avLst/>
          </a:prstGeom>
        </p:spPr>
      </p:pic>
      <p:graphicFrame>
        <p:nvGraphicFramePr>
          <p:cNvPr id="7" name="Tablo 6">
            <a:extLst>
              <a:ext uri="{FF2B5EF4-FFF2-40B4-BE49-F238E27FC236}">
                <a16:creationId xmlns:a16="http://schemas.microsoft.com/office/drawing/2014/main" id="{2FA6926E-1AE4-1EF8-333E-E352CB13D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777586"/>
              </p:ext>
            </p:extLst>
          </p:nvPr>
        </p:nvGraphicFramePr>
        <p:xfrm>
          <a:off x="0" y="2400546"/>
          <a:ext cx="4668416" cy="2468880"/>
        </p:xfrm>
        <a:graphic>
          <a:graphicData uri="http://schemas.openxmlformats.org/drawingml/2006/table">
            <a:tbl>
              <a:tblPr/>
              <a:tblGrid>
                <a:gridCol w="2334208">
                  <a:extLst>
                    <a:ext uri="{9D8B030D-6E8A-4147-A177-3AD203B41FA5}">
                      <a16:colId xmlns:a16="http://schemas.microsoft.com/office/drawing/2014/main" val="792684774"/>
                    </a:ext>
                  </a:extLst>
                </a:gridCol>
                <a:gridCol w="2334208">
                  <a:extLst>
                    <a:ext uri="{9D8B030D-6E8A-4147-A177-3AD203B41FA5}">
                      <a16:colId xmlns:a16="http://schemas.microsoft.com/office/drawing/2014/main" val="310615751"/>
                    </a:ext>
                  </a:extLst>
                </a:gridCol>
              </a:tblGrid>
              <a:tr h="30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Sekme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Ne yapar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051408"/>
                  </a:ext>
                </a:extLst>
              </a:tr>
              <a:tr h="30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IMPORT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Dışarıdan alır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26223"/>
                  </a:ext>
                </a:extLst>
              </a:tr>
              <a:tr h="30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EXPORT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Dışarı verir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2018562"/>
                  </a:ext>
                </a:extLst>
              </a:tr>
              <a:tr h="30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CHANGING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Alır + değiştirir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690192"/>
                  </a:ext>
                </a:extLst>
              </a:tr>
              <a:tr h="30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İç tablo alır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419774"/>
                  </a:ext>
                </a:extLst>
              </a:tr>
              <a:tr h="306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EXCEPTIONS</a:t>
                      </a:r>
                    </a:p>
                    <a:p>
                      <a:pPr>
                        <a:buNone/>
                      </a:pPr>
                      <a:r>
                        <a:rPr lang="tr-TR" dirty="0"/>
                        <a:t>SOURCE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Hata yönetimi</a:t>
                      </a:r>
                    </a:p>
                    <a:p>
                      <a:pPr>
                        <a:buNone/>
                      </a:pPr>
                      <a:endParaRPr lang="tr-T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234671"/>
                  </a:ext>
                </a:extLst>
              </a:tr>
            </a:tbl>
          </a:graphicData>
        </a:graphic>
      </p:graphicFrame>
      <p:sp>
        <p:nvSpPr>
          <p:cNvPr id="9" name="Metin kutusu 8">
            <a:extLst>
              <a:ext uri="{FF2B5EF4-FFF2-40B4-BE49-F238E27FC236}">
                <a16:creationId xmlns:a16="http://schemas.microsoft.com/office/drawing/2014/main" id="{9CF81B8D-7439-7A70-A0D8-49903DFA2ED6}"/>
              </a:ext>
            </a:extLst>
          </p:cNvPr>
          <p:cNvSpPr txBox="1"/>
          <p:nvPr/>
        </p:nvSpPr>
        <p:spPr>
          <a:xfrm>
            <a:off x="0" y="4986550"/>
            <a:ext cx="46684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b="1" dirty="0" err="1"/>
              <a:t>Opt</a:t>
            </a:r>
            <a:r>
              <a:rPr lang="tr-TR" b="1" dirty="0"/>
              <a:t>. (</a:t>
            </a:r>
            <a:r>
              <a:rPr lang="tr-TR" b="1" dirty="0" err="1"/>
              <a:t>Optional</a:t>
            </a:r>
            <a:r>
              <a:rPr lang="tr-TR" b="1" dirty="0"/>
              <a:t>)</a:t>
            </a:r>
          </a:p>
          <a:p>
            <a:pPr>
              <a:buNone/>
            </a:pPr>
            <a:r>
              <a:rPr lang="tr-TR" dirty="0"/>
              <a:t>İşaretliyse parametre </a:t>
            </a:r>
            <a:r>
              <a:rPr lang="tr-TR" b="1" dirty="0"/>
              <a:t>zorunlu değildir.</a:t>
            </a:r>
            <a:br>
              <a:rPr lang="tr-TR" dirty="0"/>
            </a:br>
            <a:endParaRPr lang="tr-TR" dirty="0"/>
          </a:p>
          <a:p>
            <a:pPr>
              <a:buNone/>
            </a:pPr>
            <a:r>
              <a:rPr lang="tr-TR" b="1" dirty="0" err="1"/>
              <a:t>Pass</a:t>
            </a:r>
            <a:r>
              <a:rPr lang="tr-TR" b="1" dirty="0"/>
              <a:t>. (</a:t>
            </a:r>
            <a:r>
              <a:rPr lang="tr-TR" b="1" dirty="0" err="1"/>
              <a:t>Pass</a:t>
            </a:r>
            <a:r>
              <a:rPr lang="tr-TR" b="1" dirty="0"/>
              <a:t> </a:t>
            </a:r>
            <a:r>
              <a:rPr lang="tr-TR" b="1" dirty="0" err="1"/>
              <a:t>value</a:t>
            </a:r>
            <a:r>
              <a:rPr lang="tr-TR" b="1" dirty="0"/>
              <a:t>)</a:t>
            </a:r>
          </a:p>
          <a:p>
            <a:pPr>
              <a:buNone/>
            </a:pPr>
            <a:r>
              <a:rPr lang="tr-TR" dirty="0"/>
              <a:t> İşaretlenirse değeri </a:t>
            </a:r>
            <a:r>
              <a:rPr lang="tr-TR" dirty="0" err="1"/>
              <a:t>değiştirebilir.Ama</a:t>
            </a:r>
            <a:r>
              <a:rPr lang="tr-TR" dirty="0"/>
              <a:t> </a:t>
            </a:r>
            <a:r>
              <a:rPr lang="tr-TR" dirty="0" err="1"/>
              <a:t>importların</a:t>
            </a:r>
            <a:r>
              <a:rPr lang="tr-TR" dirty="0"/>
              <a:t> değiştirilmesi anlamsız.</a:t>
            </a:r>
          </a:p>
        </p:txBody>
      </p:sp>
    </p:spTree>
    <p:extLst>
      <p:ext uri="{BB962C8B-B14F-4D97-AF65-F5344CB8AC3E}">
        <p14:creationId xmlns:p14="http://schemas.microsoft.com/office/powerpoint/2010/main" val="150032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F7B06A-7EDC-810F-A499-73D520E4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r>
              <a:rPr lang="tr-TR" sz="1800" dirty="0"/>
              <a:t>Fonksiyon programda örnek kısmından çağrılır.</a:t>
            </a:r>
          </a:p>
        </p:txBody>
      </p:sp>
    </p:spTree>
    <p:extLst>
      <p:ext uri="{BB962C8B-B14F-4D97-AF65-F5344CB8AC3E}">
        <p14:creationId xmlns:p14="http://schemas.microsoft.com/office/powerpoint/2010/main" val="1500483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E7120-8F5A-915C-01BD-C100C28B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0E944E6-CF5B-3127-D1D0-68F77E599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7565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271A-8583-FB3A-448F-4C4DCCD8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6F2E322-AA4C-04BA-46BA-1F0850E3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53458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57517-DC1C-6827-05C7-FE7BA669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05A7316-04DC-38FA-9822-518B73C05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445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0A9B-3327-FA65-DB29-0A305359A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F595D74-0701-272E-7A2B-9193D4F77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9749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568</Words>
  <Application>Microsoft Office PowerPoint</Application>
  <PresentationFormat>Geniş ekran</PresentationFormat>
  <Paragraphs>134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Arial Unicode MS</vt:lpstr>
      <vt:lpstr>Courier New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ZEYNEP G. 222803048</dc:creator>
  <cp:lastModifiedBy>ZEYNEP G. 222803048</cp:lastModifiedBy>
  <cp:revision>10</cp:revision>
  <dcterms:created xsi:type="dcterms:W3CDTF">2026-02-01T20:53:07Z</dcterms:created>
  <dcterms:modified xsi:type="dcterms:W3CDTF">2026-02-08T15:48:44Z</dcterms:modified>
</cp:coreProperties>
</file>